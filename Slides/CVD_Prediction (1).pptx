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84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182880"/>
            <a:ext cx="2743200" cy="2743200"/>
          </a:xfrm>
          <a:prstGeom prst="ellipse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" y="3657600"/>
            <a:ext cx="9034272" cy="14859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Cardiovascular Disease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· XGBoost &amp; Keras · 70,000 Patient Records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Raneem Mansour  ·  Qutada Shobaki  ·  Sara Allan  ·  Yousef Ghawi  ·  Raghad Qafesha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 ·  Python 3.10  ·  Status: Completed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Goal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2560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Globally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914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we solving?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kills millions annually, yet many cases go undetected until it's too late. We build a binary classification model that predicts CVD presence from patient medical and lifestyle data.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9260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high-risk patients for early intervention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unnecessary tests for low-risk patients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preventive care and lifestyle decisions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 &amp; What It Contains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2344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exams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868680"/>
            <a:ext cx="1920240" cy="12344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41448" y="86868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41448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+ 1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41448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41448" y="1874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target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868680"/>
            <a:ext cx="1920240" cy="12344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08576" y="86868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08576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08576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08576" y="1874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/ no CVD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75704" y="868680"/>
            <a:ext cx="1920240" cy="12344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75704" y="86868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75704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75704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75704" y="1874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12801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 (converted from days to years)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163824"/>
            <a:ext cx="12801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163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ap_hi / ap_lo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0020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/ Diastolic blood pressure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12801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4930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00200" y="3511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1=Normal  2=Above normal  3=Well above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822192"/>
            <a:ext cx="12801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0020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levels (same 3-level scale)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151376"/>
            <a:ext cx="12801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151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00200" y="4169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weight / height²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480560"/>
            <a:ext cx="12801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480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★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00200" y="4498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1=CVD present  0=CVD absent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2377440"/>
            <a:ext cx="3566160" cy="246888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406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Notes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40680" y="29260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~8.8% of patients smoke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~5.4% drink alcohol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are physically active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stored in days → converted to years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removed: blood pressure, height, weight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EDA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97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bmi_card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68680"/>
            <a:ext cx="4206240" cy="1508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2404872"/>
            <a:ext cx="4297680" cy="3383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242316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Obese patients have significantly higher CVD rates vs normal weight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822960"/>
            <a:ext cx="4297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user-data/uploads/cholesterol_cardi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868680"/>
            <a:ext cx="4206240" cy="1508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2404872"/>
            <a:ext cx="4297680" cy="3383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754880" y="242316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cholesterol levels correlate strongly with CVD presence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82880" y="2834640"/>
            <a:ext cx="4297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/mnt/user-data/uploads/correlation_heatma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8600" y="2880360"/>
            <a:ext cx="4206240" cy="15087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82880" y="4416552"/>
            <a:ext cx="4297680" cy="3383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274320" y="44348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ap_hi, age and cholesterol show strongest correlations with target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663440" y="2834640"/>
            <a:ext cx="4297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mnt/user-data/uploads/feature_importanc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9160" y="2880360"/>
            <a:ext cx="4206240" cy="1508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63440" y="4416552"/>
            <a:ext cx="4297680" cy="338328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754880" y="44348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ap_hi alone accounts for 64.74% of XGBoost predictive signal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08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83080" y="868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93392" y="868680"/>
            <a:ext cx="1508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93392" y="868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02152" y="868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12464" y="868680"/>
            <a:ext cx="1508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12464" y="868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21224" y="868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31536" y="868680"/>
            <a:ext cx="15087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31536" y="868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0296" y="868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50608" y="868680"/>
            <a:ext cx="1508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0608" y="868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508760"/>
            <a:ext cx="4023360" cy="31089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1508760"/>
            <a:ext cx="40233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1: Gradient Boosting (XGBoost)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2057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ensemble of decision trees sequentially — each new tree corrects the residuals of the previous ones.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1089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 = 300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learning_rate = 0.05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 = 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subsample = 0.8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343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feature scaling required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508760"/>
            <a:ext cx="4206240" cy="310896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508760"/>
            <a:ext cx="420624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2: Neural Network (Keras)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2057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(MLP) with 3 hidden layers. Uses ReLU activation, Adam optimizer, and early stopping to prevent overfitting.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20040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50408" y="3200400"/>
            <a:ext cx="502920" cy="502920"/>
          </a:xfrm>
          <a:prstGeom prst="ellipse">
            <a:avLst/>
          </a:prstGeom>
          <a:solidFill>
            <a:srgbClr val="E8746A"/>
          </a:solidFill>
          <a:ln w="12700">
            <a:solidFill>
              <a:srgbClr val="E87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5040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53328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0216" y="3200400"/>
            <a:ext cx="502920" cy="502920"/>
          </a:xfrm>
          <a:prstGeom prst="ellipse">
            <a:avLst/>
          </a:prstGeom>
          <a:solidFill>
            <a:srgbClr val="E8746A"/>
          </a:solidFill>
          <a:ln w="12700">
            <a:solidFill>
              <a:srgbClr val="E87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0216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03136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50024" y="3200400"/>
            <a:ext cx="502920" cy="502920"/>
          </a:xfrm>
          <a:prstGeom prst="ellipse">
            <a:avLst/>
          </a:prstGeom>
          <a:solidFill>
            <a:srgbClr val="E8746A"/>
          </a:solidFill>
          <a:ln w="12700">
            <a:solidFill>
              <a:srgbClr val="E87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50024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52944" y="32461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99832" y="320040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9983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 ·  Adam  ·  Early Stopping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4343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Requires StandardScaler on training data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Accuracy Comparison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(recommended)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90472"/>
            <a:ext cx="4754880" cy="25603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90472"/>
            <a:ext cx="3514807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72007" y="14904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73.92%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(Keras)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754880" cy="25603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3509101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66301" y="2148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505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(majority class)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07208"/>
            <a:ext cx="4754880" cy="25603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807208"/>
            <a:ext cx="2377440" cy="256032"/>
          </a:xfrm>
          <a:prstGeom prst="rect">
            <a:avLst/>
          </a:prstGeom>
          <a:solidFill>
            <a:srgbClr val="8891A4"/>
          </a:solidFill>
          <a:ln w="12700">
            <a:solidFill>
              <a:srgbClr val="8891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3464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Feature Importance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65760" y="3547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ap_hi (systolic BP)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14600" y="3566160"/>
            <a:ext cx="5029200" cy="16459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514600" y="3566160"/>
            <a:ext cx="4797083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384835" y="3547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514600" y="3767328"/>
            <a:ext cx="5029200" cy="16459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514600" y="3767328"/>
            <a:ext cx="1067738" cy="16459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655490" y="3749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5760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14600" y="3968496"/>
            <a:ext cx="5029200" cy="16459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514600" y="3968496"/>
            <a:ext cx="539285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127037" y="39502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65760" y="4151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(engineered)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514600" y="4169664"/>
            <a:ext cx="5029200" cy="16459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514600" y="4169664"/>
            <a:ext cx="386862" cy="1645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974614" y="41513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65760" y="4352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(engineered)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514600" y="4370832"/>
            <a:ext cx="5029200" cy="16459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2514600" y="4370832"/>
            <a:ext cx="309489" cy="164592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2897241" y="43525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65760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features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514600" y="4572000"/>
            <a:ext cx="5029200" cy="164592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2514600" y="4572000"/>
            <a:ext cx="116058" cy="164592"/>
          </a:xfrm>
          <a:prstGeom prst="rect">
            <a:avLst/>
          </a:prstGeom>
          <a:solidFill>
            <a:srgbClr val="8891A4"/>
          </a:solidFill>
          <a:ln w="12700">
            <a:solidFill>
              <a:srgbClr val="8891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703810" y="45537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8862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749040" cy="2994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ap_hi is the dominant predictor (62% importance)</a:t>
            </a:r>
          </a:p>
          <a:p>
            <a:pPr marL="0" indent="0">
              <a:spcAft>
                <a:spcPts val="700"/>
              </a:spcAft>
              <a:buNone/>
            </a:pP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(BMI, MAP) beat raw lifestyle data</a:t>
            </a:r>
          </a:p>
          <a:p>
            <a:pPr marL="0" indent="0">
              <a:spcAft>
                <a:spcPts val="700"/>
              </a:spcAft>
              <a:buNone/>
            </a:pP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converge at ~73–74% — a data ceiling, not a model limit</a:t>
            </a:r>
          </a:p>
          <a:p>
            <a:pPr marL="0" indent="0">
              <a:spcAft>
                <a:spcPts val="700"/>
              </a:spcAft>
              <a:buNone/>
            </a:pP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outperforms Keras: faster, no scaling, more interpretable</a:t>
            </a:r>
          </a:p>
          <a:p>
            <a:pPr marL="0" indent="0">
              <a:spcAft>
                <a:spcPts val="700"/>
              </a:spcAft>
              <a:buNone/>
            </a:pP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removed 1,369 impossible rows — quality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22959"/>
            <a:ext cx="4206240" cy="3886201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Next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XGBoost —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production model — higher accuracy, no scaling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richer features —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ECG, imaging, blood panels, family history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40416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both models —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Keras for ~0.5–1% gain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301611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geographically —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generalizability across populations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367975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self-reported data — </a:t>
            </a: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collection for lifestyle variables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Ethics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73–74% accuracy ceiling — imposed by data, not models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feature correlations (strongest: age at 0.24)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ECG, imaging, or family history in dataset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imbalance: ~60% female records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data collection date — temporal limitation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Considerations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diagnostic tool — decision support only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replace clinical judgment or expertise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lifestyle data has measurement error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geographic label — generalizability unknown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 requires HIPAA / GDPR compliance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859536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Important: </a:t>
            </a:r>
            <a:r>
              <a:rPr lang="en-US" sz="11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is a clinical decision-support tool only. It must always be reviewed by qualified medical professionals and cannot replace diagnosis, treatment, or clinical expertise.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3017520"/>
            <a:ext cx="4572000" cy="4572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Raneem Mansour  ·  Qutada Shobaki  ·  Sara Allan  ·  Yousef Ghawi  ·  Raghad Qafesha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788</Words>
  <Application>Microsoft Office PowerPoint</Application>
  <PresentationFormat>On-screen Show (16:9)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Cardiovascular Disease Prediction</dc:title>
  <dc:subject>PptxGenJS Presentation</dc:subject>
  <dc:creator>PptxGenJS</dc:creator>
  <cp:lastModifiedBy>sara allan</cp:lastModifiedBy>
  <cp:revision>4</cp:revision>
  <dcterms:created xsi:type="dcterms:W3CDTF">2026-04-04T11:31:21Z</dcterms:created>
  <dcterms:modified xsi:type="dcterms:W3CDTF">2026-04-04T12:08:39Z</dcterms:modified>
</cp:coreProperties>
</file>